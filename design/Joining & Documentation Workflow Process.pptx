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49640" y="0"/>
            <a:ext cx="3642055" cy="6858000"/>
          </a:xfrm>
          <a:prstGeom prst="rect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7615" cy="6858000"/>
          </a:xfrm>
          <a:prstGeom prst="rect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132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7DED2"/>
                </a:solidFill>
                <a:latin typeface="Aptos"/>
              </a:rPr>
              <a:t>HUMAN RESOURCES | PROCESS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28800"/>
            <a:ext cx="731520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"/>
              </a:rPr>
              <a:t>HR Joining &amp;
Documentation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611880"/>
            <a:ext cx="66751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E0E9F4"/>
                </a:solidFill>
                <a:latin typeface="Aptos"/>
              </a:rPr>
              <a:t>A clear step-by-step view of joining approval,
HRMS entry, appointment letter and document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280160"/>
            <a:ext cx="20116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98280" y="1371600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72B4D"/>
                </a:solidFill>
                <a:latin typeface="Aptos"/>
              </a:rPr>
              <a:t>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331720"/>
            <a:ext cx="20116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98280" y="2423160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72B4D"/>
                </a:solidFill>
                <a:latin typeface="Aptos"/>
              </a:rPr>
              <a:t>JOINING 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383280"/>
            <a:ext cx="20116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98280" y="3474720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72B4D"/>
                </a:solidFill>
                <a:latin typeface="Aptos"/>
              </a:rPr>
              <a:t>DOCUMENTS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4434840"/>
            <a:ext cx="201168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98280" y="4526279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72B4D"/>
                </a:solidFill>
                <a:latin typeface="Aptos"/>
              </a:rPr>
              <a:t>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800" b="1" u="sng" dirty="0" smtClean="0">
                <a:solidFill>
                  <a:srgbClr val="5D6C7C"/>
                </a:solidFill>
                <a:latin typeface="Aptos"/>
              </a:rPr>
              <a:t>Overview of Work Flow Process</a:t>
            </a:r>
            <a:endParaRPr lang="en-IN" sz="2800" b="1" u="sng" dirty="0">
              <a:solidFill>
                <a:srgbClr val="5D6C7C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85750" indent="-285750" algn="l"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b="0" dirty="0">
                <a:solidFill>
                  <a:schemeClr val="accent2">
                    <a:lumMod val="75000"/>
                  </a:schemeClr>
                </a:solidFill>
                <a:latin typeface="Aptos"/>
              </a:rPr>
              <a:t>The complete flow from joining request to verified employee records</a:t>
            </a:r>
            <a:r>
              <a:rPr sz="1200" b="0" dirty="0">
                <a:solidFill>
                  <a:srgbClr val="5D6C7C"/>
                </a:solidFill>
                <a:latin typeface="Aptos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547872" cy="932688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22376" y="1847088"/>
            <a:ext cx="384048" cy="384048"/>
          </a:xfrm>
          <a:prstGeom prst="ellipse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18745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801368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B4D"/>
                </a:solidFill>
                <a:latin typeface="Aptos"/>
              </a:rPr>
              <a:t>Joining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084832"/>
            <a:ext cx="27432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900" b="0" dirty="0">
                <a:solidFill>
                  <a:srgbClr val="303B48"/>
                </a:solidFill>
                <a:latin typeface="Aptos"/>
              </a:rPr>
              <a:t>Territory Manager → Reporting </a:t>
            </a:r>
            <a:r>
              <a:rPr sz="900" b="0" dirty="0" smtClean="0">
                <a:solidFill>
                  <a:srgbClr val="303B48"/>
                </a:solidFill>
                <a:latin typeface="Aptos"/>
              </a:rPr>
              <a:t>Manager</a:t>
            </a:r>
            <a:r>
              <a:rPr lang="en-IN" sz="900" dirty="0">
                <a:solidFill>
                  <a:srgbClr val="303B48"/>
                </a:solidFill>
                <a:latin typeface="Aptos"/>
              </a:rPr>
              <a:t> </a:t>
            </a:r>
            <a:r>
              <a:rPr lang="en-IN" sz="900" dirty="0" smtClean="0">
                <a:solidFill>
                  <a:srgbClr val="303B48"/>
                </a:solidFill>
                <a:latin typeface="Aptos"/>
              </a:rPr>
              <a:t>→Country Head</a:t>
            </a:r>
            <a:r>
              <a:rPr sz="900" b="0" dirty="0" smtClean="0">
                <a:solidFill>
                  <a:srgbClr val="303B48"/>
                </a:solidFill>
                <a:latin typeface="Aptos"/>
              </a:rPr>
              <a:t> </a:t>
            </a:r>
            <a:r>
              <a:rPr sz="900" b="0" dirty="0">
                <a:solidFill>
                  <a:srgbClr val="303B48"/>
                </a:solidFill>
                <a:latin typeface="Aptos"/>
              </a:rPr>
              <a:t>→ Project </a:t>
            </a:r>
            <a:r>
              <a:rPr sz="900" b="0" dirty="0" smtClean="0">
                <a:solidFill>
                  <a:srgbClr val="303B48"/>
                </a:solidFill>
                <a:latin typeface="Aptos"/>
              </a:rPr>
              <a:t>Manager</a:t>
            </a:r>
            <a:r>
              <a:rPr lang="en-IN" sz="900" dirty="0">
                <a:solidFill>
                  <a:srgbClr val="303B48"/>
                </a:solidFill>
                <a:latin typeface="Aptos"/>
              </a:rPr>
              <a:t> </a:t>
            </a:r>
            <a:r>
              <a:rPr lang="en-IN" sz="900" dirty="0" smtClean="0">
                <a:solidFill>
                  <a:srgbClr val="303B48"/>
                </a:solidFill>
                <a:latin typeface="Aptos"/>
              </a:rPr>
              <a:t>→ HR</a:t>
            </a:r>
            <a:endParaRPr sz="900" b="0" dirty="0">
              <a:solidFill>
                <a:srgbClr val="303B48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53128" y="1691640"/>
            <a:ext cx="3547872" cy="932688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81144" y="1847088"/>
            <a:ext cx="384048" cy="384048"/>
          </a:xfrm>
          <a:prstGeom prst="ellipse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1144" y="18745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801368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B4D"/>
                </a:solidFill>
                <a:latin typeface="Aptos"/>
              </a:rPr>
              <a:t>Joining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084832"/>
            <a:ext cx="27432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dirty="0">
                <a:solidFill>
                  <a:srgbClr val="303B48"/>
                </a:solidFill>
                <a:latin typeface="Aptos"/>
              </a:rPr>
              <a:t>Approved joining and required documents received by </a:t>
            </a:r>
            <a:r>
              <a:rPr lang="en-US" sz="900" dirty="0" smtClean="0">
                <a:solidFill>
                  <a:srgbClr val="303B48"/>
                </a:solidFill>
                <a:latin typeface="Aptos"/>
              </a:rPr>
              <a:t>Project Manager</a:t>
            </a:r>
            <a:endParaRPr sz="900" b="0" dirty="0">
              <a:solidFill>
                <a:srgbClr val="303B48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311896" y="1691640"/>
            <a:ext cx="3547872" cy="932688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39912" y="1847088"/>
            <a:ext cx="384048" cy="384048"/>
          </a:xfrm>
          <a:prstGeom prst="ellipse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18745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1801368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B4D"/>
                </a:solidFill>
                <a:latin typeface="Aptos"/>
              </a:rPr>
              <a:t>Joining 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2084832"/>
            <a:ext cx="27432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dirty="0">
                <a:solidFill>
                  <a:srgbClr val="303B48"/>
                </a:solidFill>
                <a:latin typeface="Aptos"/>
              </a:rPr>
              <a:t>Employee submits form; HR creates the HRMS record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834640"/>
            <a:ext cx="3547872" cy="932688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22376" y="2990088"/>
            <a:ext cx="384048" cy="384048"/>
          </a:xfrm>
          <a:prstGeom prst="ellipse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" y="30175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2944368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B4D"/>
                </a:solidFill>
                <a:latin typeface="Aptos"/>
              </a:rPr>
              <a:t>Induction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227832"/>
            <a:ext cx="27432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dirty="0">
                <a:solidFill>
                  <a:srgbClr val="303B48"/>
                </a:solidFill>
                <a:latin typeface="Aptos"/>
              </a:rPr>
              <a:t>New joiner, </a:t>
            </a:r>
            <a:r>
              <a:rPr lang="en-US" sz="900" dirty="0" smtClean="0">
                <a:solidFill>
                  <a:srgbClr val="303B48"/>
                </a:solidFill>
                <a:latin typeface="Aptos"/>
              </a:rPr>
              <a:t>Project </a:t>
            </a:r>
            <a:r>
              <a:rPr sz="900" b="0" dirty="0" smtClean="0">
                <a:solidFill>
                  <a:srgbClr val="303B48"/>
                </a:solidFill>
                <a:latin typeface="Aptos"/>
              </a:rPr>
              <a:t>Manager </a:t>
            </a:r>
            <a:r>
              <a:rPr sz="900" b="0" dirty="0">
                <a:solidFill>
                  <a:srgbClr val="303B48"/>
                </a:solidFill>
                <a:latin typeface="Aptos"/>
              </a:rPr>
              <a:t>and HR team participate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2834640"/>
            <a:ext cx="3547872" cy="932688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81144" y="2990088"/>
            <a:ext cx="384048" cy="384048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81144" y="30175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2944368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B4D"/>
                </a:solidFill>
                <a:latin typeface="Aptos"/>
              </a:rPr>
              <a:t>Appointment Letter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227832"/>
            <a:ext cx="27432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900" dirty="0">
                <a:solidFill>
                  <a:srgbClr val="303B48"/>
                </a:solidFill>
                <a:latin typeface="Aptos"/>
              </a:rPr>
              <a:t>P</a:t>
            </a:r>
            <a:r>
              <a:rPr sz="900" b="0" dirty="0" smtClean="0">
                <a:solidFill>
                  <a:srgbClr val="303B48"/>
                </a:solidFill>
                <a:latin typeface="Aptos"/>
              </a:rPr>
              <a:t>M </a:t>
            </a:r>
            <a:r>
              <a:rPr sz="900" b="0" dirty="0">
                <a:solidFill>
                  <a:srgbClr val="303B48"/>
                </a:solidFill>
                <a:latin typeface="Aptos"/>
              </a:rPr>
              <a:t>reviews and approves; corrections if needed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11896" y="2834640"/>
            <a:ext cx="3547872" cy="932688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439912" y="2990088"/>
            <a:ext cx="384048" cy="384048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39912" y="30175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33688" y="2944368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B4D"/>
                </a:solidFill>
                <a:latin typeface="Aptos"/>
              </a:rPr>
              <a:t>Letter Dispatch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33688" y="3227832"/>
            <a:ext cx="27432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03B48"/>
                </a:solidFill>
                <a:latin typeface="Aptos"/>
              </a:rPr>
              <a:t>Approved letter emailed before joining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3977639"/>
            <a:ext cx="3547872" cy="932688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22376" y="4133087"/>
            <a:ext cx="384048" cy="384048"/>
          </a:xfrm>
          <a:prstGeom prst="ellipse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2376" y="41605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087368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B4D"/>
                </a:solidFill>
                <a:latin typeface="Aptos"/>
              </a:rPr>
              <a:t>Document Collection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370831"/>
            <a:ext cx="27432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03B48"/>
                </a:solidFill>
                <a:latin typeface="Aptos"/>
              </a:rPr>
              <a:t>Required employee documents moved to the system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53128" y="3977639"/>
            <a:ext cx="3547872" cy="932688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581144" y="4133087"/>
            <a:ext cx="384048" cy="384048"/>
          </a:xfrm>
          <a:prstGeom prst="ellipse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81144" y="41605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4087368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B4D"/>
                </a:solidFill>
                <a:latin typeface="Aptos"/>
              </a:rPr>
              <a:t>Document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370831"/>
            <a:ext cx="27432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03B48"/>
                </a:solidFill>
                <a:latin typeface="Aptos"/>
              </a:rPr>
              <a:t>HR checks readability, completeness and data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11896" y="3977639"/>
            <a:ext cx="3547872" cy="932688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439912" y="4133087"/>
            <a:ext cx="384048" cy="384048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39912" y="41605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33688" y="4087368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B4D"/>
                </a:solidFill>
                <a:latin typeface="Aptos"/>
              </a:rPr>
              <a:t>Follow-up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33688" y="4370831"/>
            <a:ext cx="27432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dirty="0">
                <a:solidFill>
                  <a:srgbClr val="303B48"/>
                </a:solidFill>
                <a:latin typeface="Aptos"/>
              </a:rPr>
              <a:t>Employee first; </a:t>
            </a:r>
            <a:r>
              <a:rPr lang="en-US" sz="900" b="0" dirty="0" smtClean="0">
                <a:solidFill>
                  <a:srgbClr val="303B48"/>
                </a:solidFill>
                <a:latin typeface="Aptos"/>
              </a:rPr>
              <a:t>P</a:t>
            </a:r>
            <a:r>
              <a:rPr sz="900" b="0" dirty="0" smtClean="0">
                <a:solidFill>
                  <a:srgbClr val="303B48"/>
                </a:solidFill>
                <a:latin typeface="Aptos"/>
              </a:rPr>
              <a:t>M </a:t>
            </a:r>
            <a:r>
              <a:rPr sz="900" b="0" dirty="0">
                <a:solidFill>
                  <a:srgbClr val="303B48"/>
                </a:solidFill>
                <a:latin typeface="Aptos"/>
              </a:rPr>
              <a:t>escalation if required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" y="5120640"/>
            <a:ext cx="3547872" cy="932688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22376" y="5276088"/>
            <a:ext cx="384048" cy="384048"/>
          </a:xfrm>
          <a:prstGeom prst="ellipse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2376" y="53035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230368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B4D"/>
                </a:solidFill>
                <a:latin typeface="Aptos"/>
              </a:rPr>
              <a:t>Data Correction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513831"/>
            <a:ext cx="27432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03B48"/>
                </a:solidFill>
                <a:latin typeface="Aptos"/>
              </a:rPr>
              <a:t>Employee details aligned with supporting documents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53128" y="5120640"/>
            <a:ext cx="3547872" cy="932688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4581144" y="5276088"/>
            <a:ext cx="384048" cy="384048"/>
          </a:xfrm>
          <a:prstGeom prst="ellipse">
            <a:avLst/>
          </a:prstGeom>
          <a:solidFill>
            <a:srgbClr val="36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81144" y="5303520"/>
            <a:ext cx="3840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74920" y="5230368"/>
            <a:ext cx="2743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B4D"/>
                </a:solidFill>
                <a:latin typeface="Aptos"/>
              </a:rPr>
              <a:t>Final Verification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74920" y="5513831"/>
            <a:ext cx="27432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03B48"/>
                </a:solidFill>
                <a:latin typeface="Aptos"/>
              </a:rPr>
              <a:t>HR rechecks and verifies records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D6C7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2600" b="1" dirty="0" smtClean="0">
                <a:solidFill>
                  <a:srgbClr val="172B4D"/>
                </a:solidFill>
                <a:latin typeface="Aptos"/>
              </a:rPr>
              <a:t>2. </a:t>
            </a:r>
            <a:r>
              <a:rPr sz="2600" b="1" u="sng" dirty="0" smtClean="0">
                <a:solidFill>
                  <a:srgbClr val="172B4D"/>
                </a:solidFill>
                <a:latin typeface="Aptos"/>
              </a:rPr>
              <a:t>Joining Approval</a:t>
            </a:r>
            <a:r>
              <a:rPr lang="en-US" sz="2600" b="1" u="sng" dirty="0" smtClean="0">
                <a:solidFill>
                  <a:srgbClr val="172B4D"/>
                </a:solidFill>
                <a:latin typeface="Aptos"/>
              </a:rPr>
              <a:t> Process</a:t>
            </a:r>
            <a:endParaRPr sz="2600" b="1" u="sng" dirty="0">
              <a:solidFill>
                <a:srgbClr val="172B4D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24028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30552"/>
            <a:ext cx="64008" cy="1408176"/>
          </a:xfrm>
          <a:prstGeom prst="rect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7" y="2203704"/>
            <a:ext cx="347472" cy="347472"/>
          </a:xfrm>
          <a:prstGeom prst="ellipse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23113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14630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B4D"/>
                </a:solidFill>
                <a:latin typeface="Aptos"/>
              </a:rPr>
              <a:t>Territory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79192"/>
            <a:ext cx="1856232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303B48"/>
                </a:solidFill>
                <a:latin typeface="Aptos"/>
              </a:rPr>
              <a:t>Initiates / shares
joining </a:t>
            </a:r>
            <a:r>
              <a:rPr lang="en-US" sz="1200" dirty="0" smtClean="0">
                <a:solidFill>
                  <a:srgbClr val="303B48"/>
                </a:solidFill>
                <a:latin typeface="Aptos"/>
              </a:rPr>
              <a:t>to RM</a:t>
            </a:r>
            <a:endParaRPr sz="1200" b="0" dirty="0">
              <a:solidFill>
                <a:srgbClr val="303B48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2834640"/>
            <a:ext cx="484632" cy="0"/>
          </a:xfrm>
          <a:prstGeom prst="line">
            <a:avLst/>
          </a:prstGeom>
          <a:ln w="25400">
            <a:solidFill>
              <a:srgbClr val="1A8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2057400"/>
            <a:ext cx="224028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40" y="2130552"/>
            <a:ext cx="64008" cy="1408176"/>
          </a:xfrm>
          <a:prstGeom prst="rect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721608" y="2203704"/>
            <a:ext cx="347472" cy="347472"/>
          </a:xfrm>
          <a:prstGeom prst="ellipse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21608" y="223113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194560"/>
            <a:ext cx="146303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B4D"/>
                </a:solidFill>
                <a:latin typeface="Aptos"/>
              </a:rPr>
              <a:t>Reporting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2679192"/>
            <a:ext cx="185623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303B48"/>
                </a:solidFill>
                <a:latin typeface="Aptos"/>
              </a:rPr>
              <a:t>Reviews request and
</a:t>
            </a:r>
            <a:r>
              <a:rPr lang="en-US" sz="1200" dirty="0" smtClean="0">
                <a:solidFill>
                  <a:srgbClr val="303B48"/>
                </a:solidFill>
                <a:latin typeface="Aptos"/>
              </a:rPr>
              <a:t>forward joining mail to country head</a:t>
            </a:r>
            <a:endParaRPr sz="1200" b="0" dirty="0">
              <a:solidFill>
                <a:srgbClr val="303B48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5806440" y="2834640"/>
            <a:ext cx="484632" cy="0"/>
          </a:xfrm>
          <a:prstGeom prst="line">
            <a:avLst/>
          </a:prstGeom>
          <a:ln w="25400">
            <a:solidFill>
              <a:srgbClr val="1A8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62872" y="2159193"/>
            <a:ext cx="224028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56003" y="2242915"/>
            <a:ext cx="64008" cy="1408176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361081" y="2333451"/>
            <a:ext cx="347472" cy="347472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733" y="2425795"/>
            <a:ext cx="34747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100" b="1" dirty="0">
                <a:solidFill>
                  <a:srgbClr val="FFFFFF"/>
                </a:solidFill>
                <a:latin typeface="Aptos"/>
              </a:rPr>
              <a:t>4</a:t>
            </a:r>
            <a:endParaRPr sz="11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852660" y="2345436"/>
            <a:ext cx="14630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172B4D"/>
                </a:solidFill>
                <a:latin typeface="Aptos"/>
              </a:rPr>
              <a:t>Project Manager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0717" y="2742470"/>
            <a:ext cx="185623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303B48"/>
                </a:solidFill>
                <a:latin typeface="Aptos"/>
              </a:rPr>
              <a:t>Approves joining and
shares </a:t>
            </a:r>
            <a:r>
              <a:rPr lang="en-US" sz="1200" dirty="0" smtClean="0">
                <a:solidFill>
                  <a:srgbClr val="303B48"/>
                </a:solidFill>
                <a:latin typeface="Aptos"/>
              </a:rPr>
              <a:t>Joining to HR with Approval of country head</a:t>
            </a:r>
            <a:endParaRPr sz="1200" b="0" dirty="0">
              <a:solidFill>
                <a:srgbClr val="303B48"/>
              </a:solidFill>
              <a:latin typeface="Aptos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8686800" y="2837303"/>
            <a:ext cx="484632" cy="0"/>
          </a:xfrm>
          <a:prstGeom prst="line">
            <a:avLst/>
          </a:prstGeom>
          <a:ln w="25400">
            <a:solidFill>
              <a:srgbClr val="1A8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892039" y="3833661"/>
            <a:ext cx="224028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892039" y="3936324"/>
            <a:ext cx="64008" cy="1408176"/>
          </a:xfrm>
          <a:prstGeom prst="rect">
            <a:avLst/>
          </a:prstGeom>
          <a:solidFill>
            <a:srgbClr val="36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152644" y="4004324"/>
            <a:ext cx="347472" cy="347472"/>
          </a:xfrm>
          <a:prstGeom prst="ellipse">
            <a:avLst/>
          </a:prstGeom>
          <a:solidFill>
            <a:srgbClr val="36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52644" y="4093421"/>
            <a:ext cx="34747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100" b="1" dirty="0">
                <a:solidFill>
                  <a:srgbClr val="FFFFFF"/>
                </a:solidFill>
                <a:latin typeface="Aptos"/>
              </a:rPr>
              <a:t>5</a:t>
            </a:r>
            <a:endParaRPr sz="11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23559" y="4050044"/>
            <a:ext cx="146303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172B4D"/>
                </a:solidFill>
                <a:latin typeface="Aptos"/>
              </a:rPr>
              <a:t>HR Team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7" y="4465272"/>
            <a:ext cx="185623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303B48"/>
                </a:solidFill>
                <a:latin typeface="Aptos"/>
              </a:rPr>
              <a:t>Receives </a:t>
            </a:r>
            <a:r>
              <a:rPr lang="en-US" sz="1200" b="0" dirty="0" smtClean="0">
                <a:solidFill>
                  <a:srgbClr val="303B48"/>
                </a:solidFill>
                <a:latin typeface="Aptos"/>
              </a:rPr>
              <a:t>Joining </a:t>
            </a:r>
            <a:r>
              <a:rPr sz="1200" b="0" dirty="0" smtClean="0">
                <a:solidFill>
                  <a:srgbClr val="303B48"/>
                </a:solidFill>
                <a:latin typeface="Aptos"/>
              </a:rPr>
              <a:t>mail </a:t>
            </a:r>
            <a:r>
              <a:rPr sz="1200" b="0" dirty="0">
                <a:solidFill>
                  <a:srgbClr val="303B48"/>
                </a:solidFill>
                <a:latin typeface="Aptos"/>
              </a:rPr>
              <a:t>with
employee details &amp; </a:t>
            </a:r>
            <a:r>
              <a:rPr lang="en-US" sz="1200" dirty="0">
                <a:solidFill>
                  <a:srgbClr val="303B48"/>
                </a:solidFill>
                <a:latin typeface="Aptos"/>
              </a:rPr>
              <a:t>r</a:t>
            </a:r>
            <a:r>
              <a:rPr lang="en-US" sz="1200" b="0" dirty="0" smtClean="0">
                <a:solidFill>
                  <a:srgbClr val="303B48"/>
                </a:solidFill>
                <a:latin typeface="Aptos"/>
              </a:rPr>
              <a:t>equired </a:t>
            </a:r>
            <a:r>
              <a:rPr sz="1200" b="0" dirty="0" smtClean="0">
                <a:solidFill>
                  <a:srgbClr val="303B48"/>
                </a:solidFill>
                <a:latin typeface="Aptos"/>
              </a:rPr>
              <a:t>do</a:t>
            </a:r>
            <a:r>
              <a:rPr lang="en-US" sz="1200" b="0" dirty="0" smtClean="0">
                <a:solidFill>
                  <a:srgbClr val="303B48"/>
                </a:solidFill>
                <a:latin typeface="Aptos"/>
              </a:rPr>
              <a:t>cuments</a:t>
            </a:r>
            <a:endParaRPr sz="1200" b="0" dirty="0">
              <a:solidFill>
                <a:srgbClr val="303B48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70811" y="5527574"/>
            <a:ext cx="10149840" cy="1325880"/>
          </a:xfrm>
          <a:prstGeom prst="roundRect">
            <a:avLst/>
          </a:prstGeom>
          <a:solidFill>
            <a:srgbClr val="E1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81328" y="5832398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dirty="0">
                <a:solidFill>
                  <a:srgbClr val="275FA0"/>
                </a:solidFill>
                <a:latin typeface="Aptos"/>
              </a:rPr>
              <a:t>HR RECEIVES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4555" y="5806440"/>
            <a:ext cx="7040880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03B48"/>
                </a:solidFill>
                <a:latin typeface="Aptos"/>
              </a:rPr>
              <a:t>• Approved joining confirmation
• Employee details and required supporting documents
• Information needed to initiate joining formalities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D6C7C"/>
                </a:solidFill>
                <a:latin typeface="Aptos"/>
              </a:rPr>
              <a:t>03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8796" y="2121859"/>
            <a:ext cx="224028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68796" y="2193830"/>
            <a:ext cx="64008" cy="1408176"/>
          </a:xfrm>
          <a:prstGeom prst="rect">
            <a:avLst/>
          </a:prstGeom>
          <a:solidFill>
            <a:srgbClr val="36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25792" y="2436763"/>
            <a:ext cx="314521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3" name="Oval 42"/>
          <p:cNvSpPr/>
          <p:nvPr/>
        </p:nvSpPr>
        <p:spPr>
          <a:xfrm>
            <a:off x="6479667" y="2290978"/>
            <a:ext cx="347472" cy="347472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76824" y="2354536"/>
            <a:ext cx="34747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100" b="1" dirty="0">
                <a:solidFill>
                  <a:srgbClr val="FFFFFF"/>
                </a:solidFill>
                <a:latin typeface="Aptos"/>
              </a:rPr>
              <a:t>3</a:t>
            </a:r>
            <a:endParaRPr sz="11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995105" y="2267712"/>
            <a:ext cx="1463039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400" b="1" dirty="0" smtClean="0">
                <a:solidFill>
                  <a:srgbClr val="172B4D"/>
                </a:solidFill>
                <a:latin typeface="Aptos"/>
              </a:rPr>
              <a:t>Country Head</a:t>
            </a:r>
            <a:endParaRPr sz="1400" b="1" dirty="0">
              <a:solidFill>
                <a:srgbClr val="172B4D"/>
              </a:solidFill>
              <a:latin typeface="Apto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50560" y="2725465"/>
            <a:ext cx="185623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303B48"/>
                </a:solidFill>
                <a:latin typeface="Aptos"/>
              </a:rPr>
              <a:t>Reviews request </a:t>
            </a:r>
            <a:r>
              <a:rPr lang="en-US" sz="1200" dirty="0" smtClean="0">
                <a:solidFill>
                  <a:srgbClr val="303B48"/>
                </a:solidFill>
                <a:latin typeface="Aptos"/>
              </a:rPr>
              <a:t>and forward mail to PM after approval</a:t>
            </a:r>
            <a:endParaRPr sz="1200" b="0" dirty="0">
              <a:solidFill>
                <a:srgbClr val="303B4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dirty="0" smtClean="0">
                <a:solidFill>
                  <a:srgbClr val="172B4D"/>
                </a:solidFill>
                <a:latin typeface="Aptos"/>
              </a:rPr>
              <a:t>3</a:t>
            </a:r>
            <a:r>
              <a:rPr lang="en-US" sz="2600" b="1" dirty="0" smtClean="0">
                <a:solidFill>
                  <a:srgbClr val="172B4D"/>
                </a:solidFill>
                <a:latin typeface="Aptos"/>
              </a:rPr>
              <a:t>. </a:t>
            </a:r>
            <a:r>
              <a:rPr lang="en-US" sz="2600" b="1" u="sng" dirty="0" smtClean="0">
                <a:solidFill>
                  <a:srgbClr val="172B4D"/>
                </a:solidFill>
                <a:latin typeface="Aptos"/>
              </a:rPr>
              <a:t>Joining Create Process</a:t>
            </a:r>
            <a:endParaRPr sz="2600" b="1" u="sng" dirty="0">
              <a:solidFill>
                <a:srgbClr val="172B4D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46120" cy="1874519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93392"/>
            <a:ext cx="64008" cy="1728216"/>
          </a:xfrm>
          <a:prstGeom prst="rect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" y="2066544"/>
            <a:ext cx="347472" cy="347472"/>
          </a:xfrm>
          <a:prstGeom prst="ellipse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9397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57400"/>
            <a:ext cx="24688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B4D"/>
                </a:solidFill>
                <a:latin typeface="Aptos"/>
              </a:rPr>
              <a:t>Send Joining Form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542032"/>
            <a:ext cx="2862072" cy="11795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03B48"/>
                </a:solidFill>
                <a:latin typeface="Aptos"/>
              </a:rPr>
              <a:t>HR sends the joining form link after receiving joining confirmation.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2852928"/>
            <a:ext cx="429768" cy="0"/>
          </a:xfrm>
          <a:prstGeom prst="line">
            <a:avLst/>
          </a:prstGeom>
          <a:ln w="25400">
            <a:solidFill>
              <a:srgbClr val="1A8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1920240"/>
            <a:ext cx="3063240" cy="1874519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1993392"/>
            <a:ext cx="64008" cy="1728216"/>
          </a:xfrm>
          <a:prstGeom prst="rect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73168" y="2066544"/>
            <a:ext cx="347472" cy="347472"/>
          </a:xfrm>
          <a:prstGeom prst="ellipse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73168" y="209397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2057400"/>
            <a:ext cx="22860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B4D"/>
                </a:solidFill>
                <a:latin typeface="Aptos"/>
              </a:rPr>
              <a:t>Employee Submits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542032"/>
            <a:ext cx="2679192" cy="11795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03B48"/>
                </a:solidFill>
                <a:latin typeface="Aptos"/>
              </a:rPr>
              <a:t>Employee fills in required details and submits the completed form.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26679" y="2852928"/>
            <a:ext cx="429769" cy="0"/>
          </a:xfrm>
          <a:prstGeom prst="line">
            <a:avLst/>
          </a:prstGeom>
          <a:ln w="25400">
            <a:solidFill>
              <a:srgbClr val="1A8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0" y="1920240"/>
            <a:ext cx="3246120" cy="1874519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1993392"/>
            <a:ext cx="64008" cy="1728216"/>
          </a:xfrm>
          <a:prstGeom prst="rect">
            <a:avLst/>
          </a:prstGeom>
          <a:solidFill>
            <a:srgbClr val="36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30768" y="2066544"/>
            <a:ext cx="347472" cy="347472"/>
          </a:xfrm>
          <a:prstGeom prst="ellipse">
            <a:avLst/>
          </a:prstGeom>
          <a:solidFill>
            <a:srgbClr val="36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0768" y="209397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057400"/>
            <a:ext cx="24688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B4D"/>
                </a:solidFill>
                <a:latin typeface="Aptos"/>
              </a:rPr>
              <a:t>Create HRMS 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2542032"/>
            <a:ext cx="2862072" cy="11795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303B48"/>
                </a:solidFill>
                <a:latin typeface="Aptos"/>
              </a:rPr>
              <a:t>HR creates the employee joining record in the HRMS system.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434840"/>
            <a:ext cx="9966960" cy="1143000"/>
          </a:xfrm>
          <a:prstGeom prst="roundRect">
            <a:avLst/>
          </a:prstGeom>
          <a:solidFill>
            <a:srgbClr val="E0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71600" y="4645152"/>
            <a:ext cx="210312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8F89"/>
                </a:solidFill>
                <a:latin typeface="Aptos"/>
              </a:rPr>
              <a:t>NEXT: INDUCTION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619231"/>
            <a:ext cx="70408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303B48"/>
                </a:solidFill>
                <a:latin typeface="Aptos"/>
              </a:rPr>
              <a:t>Induction is conducted with the new </a:t>
            </a:r>
            <a:r>
              <a:rPr sz="1400" b="0" dirty="0" smtClean="0">
                <a:solidFill>
                  <a:srgbClr val="303B48"/>
                </a:solidFill>
                <a:latin typeface="Aptos"/>
              </a:rPr>
              <a:t>joiner</a:t>
            </a:r>
            <a:r>
              <a:rPr lang="en-US" sz="1400" b="0" dirty="0" smtClean="0">
                <a:solidFill>
                  <a:srgbClr val="303B48"/>
                </a:solidFill>
                <a:latin typeface="Aptos"/>
              </a:rPr>
              <a:t>s</a:t>
            </a:r>
            <a:r>
              <a:rPr sz="1400" b="0" dirty="0" smtClean="0">
                <a:solidFill>
                  <a:srgbClr val="303B48"/>
                </a:solidFill>
                <a:latin typeface="Aptos"/>
              </a:rPr>
              <a:t>, </a:t>
            </a:r>
            <a:r>
              <a:rPr sz="1400" b="0" dirty="0">
                <a:solidFill>
                  <a:srgbClr val="303B48"/>
                </a:solidFill>
                <a:latin typeface="Aptos"/>
              </a:rPr>
              <a:t>their Reporting </a:t>
            </a:r>
            <a:r>
              <a:rPr sz="1400" b="0" dirty="0" smtClean="0">
                <a:solidFill>
                  <a:srgbClr val="303B48"/>
                </a:solidFill>
                <a:latin typeface="Aptos"/>
              </a:rPr>
              <a:t>Manager</a:t>
            </a:r>
            <a:r>
              <a:rPr lang="en-US" sz="1400" b="0" dirty="0" smtClean="0">
                <a:solidFill>
                  <a:srgbClr val="303B48"/>
                </a:solidFill>
                <a:latin typeface="Aptos"/>
              </a:rPr>
              <a:t>s</a:t>
            </a:r>
            <a:r>
              <a:rPr sz="1400" b="0" dirty="0" smtClean="0">
                <a:solidFill>
                  <a:srgbClr val="303B48"/>
                </a:solidFill>
                <a:latin typeface="Aptos"/>
              </a:rPr>
              <a:t> </a:t>
            </a:r>
            <a:r>
              <a:rPr sz="1400" b="0" dirty="0">
                <a:solidFill>
                  <a:srgbClr val="303B48"/>
                </a:solidFill>
                <a:latin typeface="Aptos"/>
              </a:rPr>
              <a:t>and the HR team.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D6C7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600" b="1" dirty="0" smtClean="0">
                <a:solidFill>
                  <a:srgbClr val="172B4D"/>
                </a:solidFill>
                <a:latin typeface="Aptos"/>
              </a:rPr>
              <a:t>4. </a:t>
            </a:r>
            <a:r>
              <a:rPr sz="2600" b="1" u="sng" dirty="0" smtClean="0">
                <a:solidFill>
                  <a:srgbClr val="172B4D"/>
                </a:solidFill>
                <a:latin typeface="Aptos"/>
              </a:rPr>
              <a:t>Appointment </a:t>
            </a:r>
            <a:r>
              <a:rPr sz="2600" b="1" u="sng" dirty="0">
                <a:solidFill>
                  <a:srgbClr val="172B4D"/>
                </a:solidFill>
                <a:latin typeface="Aptos"/>
              </a:rPr>
              <a:t>Letter: </a:t>
            </a:r>
            <a:r>
              <a:rPr sz="2600" b="1" u="sng" dirty="0" smtClean="0">
                <a:solidFill>
                  <a:srgbClr val="172B4D"/>
                </a:solidFill>
                <a:latin typeface="Aptos"/>
              </a:rPr>
              <a:t>R</a:t>
            </a:r>
            <a:r>
              <a:rPr lang="en-US" sz="2600" b="1" u="sng" dirty="0" smtClean="0">
                <a:solidFill>
                  <a:srgbClr val="172B4D"/>
                </a:solidFill>
                <a:latin typeface="Aptos"/>
              </a:rPr>
              <a:t>eview and sent for approval</a:t>
            </a:r>
            <a:endParaRPr sz="2600" b="1" u="sng" dirty="0">
              <a:solidFill>
                <a:srgbClr val="172B4D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108960" cy="1508760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901952"/>
            <a:ext cx="64008" cy="1362456"/>
          </a:xfrm>
          <a:prstGeom prst="rect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" y="1975104"/>
            <a:ext cx="347472" cy="347472"/>
          </a:xfrm>
          <a:prstGeom prst="ellipse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0253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233172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dirty="0">
                <a:solidFill>
                  <a:srgbClr val="172B4D"/>
                </a:solidFill>
                <a:latin typeface="Aptos"/>
              </a:rPr>
              <a:t>Prepare &amp; Email to </a:t>
            </a:r>
            <a:r>
              <a:rPr lang="en-US" sz="1500" b="1" dirty="0">
                <a:solidFill>
                  <a:srgbClr val="172B4D"/>
                </a:solidFill>
                <a:latin typeface="Aptos"/>
              </a:rPr>
              <a:t>P</a:t>
            </a:r>
            <a:r>
              <a:rPr sz="1500" b="1" dirty="0" smtClean="0">
                <a:solidFill>
                  <a:srgbClr val="172B4D"/>
                </a:solidFill>
                <a:latin typeface="Aptos"/>
              </a:rPr>
              <a:t>M</a:t>
            </a:r>
            <a:endParaRPr sz="1500" b="1" dirty="0">
              <a:solidFill>
                <a:srgbClr val="172B4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450592"/>
            <a:ext cx="2724912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303B48"/>
                </a:solidFill>
                <a:latin typeface="Aptos"/>
              </a:rPr>
              <a:t>HR sends the appointment letter to the </a:t>
            </a:r>
            <a:r>
              <a:rPr lang="en-US" sz="1200" dirty="0" smtClean="0">
                <a:solidFill>
                  <a:srgbClr val="303B48"/>
                </a:solidFill>
                <a:latin typeface="Aptos"/>
              </a:rPr>
              <a:t>Project</a:t>
            </a:r>
            <a:r>
              <a:rPr sz="1200" b="0" dirty="0" smtClean="0">
                <a:solidFill>
                  <a:srgbClr val="303B48"/>
                </a:solidFill>
                <a:latin typeface="Aptos"/>
              </a:rPr>
              <a:t> </a:t>
            </a:r>
            <a:r>
              <a:rPr sz="1200" b="0" dirty="0">
                <a:solidFill>
                  <a:srgbClr val="303B48"/>
                </a:solidFill>
                <a:latin typeface="Aptos"/>
              </a:rPr>
              <a:t>Manager for </a:t>
            </a:r>
            <a:r>
              <a:rPr lang="en-US" sz="1200" dirty="0" smtClean="0">
                <a:solidFill>
                  <a:srgbClr val="303B48"/>
                </a:solidFill>
                <a:latin typeface="Aptos"/>
              </a:rPr>
              <a:t>approval</a:t>
            </a:r>
            <a:r>
              <a:rPr sz="1200" b="0" dirty="0" smtClean="0">
                <a:solidFill>
                  <a:srgbClr val="303B48"/>
                </a:solidFill>
                <a:latin typeface="Aptos"/>
              </a:rPr>
              <a:t>.</a:t>
            </a:r>
            <a:endParaRPr sz="1200" b="0" dirty="0">
              <a:solidFill>
                <a:srgbClr val="303B48"/>
              </a:solidFill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931920" y="2578608"/>
            <a:ext cx="411480" cy="0"/>
          </a:xfrm>
          <a:prstGeom prst="line">
            <a:avLst/>
          </a:prstGeom>
          <a:ln w="25400">
            <a:solidFill>
              <a:srgbClr val="1A8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34840" y="1828800"/>
            <a:ext cx="3200400" cy="1508760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901952"/>
            <a:ext cx="64008" cy="1362456"/>
          </a:xfrm>
          <a:prstGeom prst="rect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36007" y="1975104"/>
            <a:ext cx="347472" cy="347472"/>
          </a:xfrm>
          <a:prstGeom prst="ellipse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36007" y="200253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19" y="1965960"/>
            <a:ext cx="24231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B4D"/>
                </a:solidFill>
                <a:latin typeface="Aptos"/>
              </a:rPr>
              <a:t>Check Letter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2450592"/>
            <a:ext cx="2816352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200" dirty="0" smtClean="0">
                <a:solidFill>
                  <a:srgbClr val="303B48"/>
                </a:solidFill>
                <a:latin typeface="Aptos"/>
              </a:rPr>
              <a:t>PM</a:t>
            </a:r>
            <a:r>
              <a:rPr sz="1200" b="0" dirty="0" smtClean="0">
                <a:solidFill>
                  <a:srgbClr val="303B48"/>
                </a:solidFill>
                <a:latin typeface="Aptos"/>
              </a:rPr>
              <a:t> </a:t>
            </a:r>
            <a:r>
              <a:rPr sz="1200" b="0" dirty="0">
                <a:solidFill>
                  <a:srgbClr val="303B48"/>
                </a:solidFill>
                <a:latin typeface="Aptos"/>
              </a:rPr>
              <a:t>checks </a:t>
            </a:r>
            <a:r>
              <a:rPr lang="en-US" sz="1200" dirty="0" smtClean="0">
                <a:solidFill>
                  <a:srgbClr val="303B48"/>
                </a:solidFill>
                <a:latin typeface="Aptos"/>
              </a:rPr>
              <a:t>appointment letter proper and provide approval on mail</a:t>
            </a:r>
            <a:endParaRPr sz="1200" b="0" dirty="0">
              <a:solidFill>
                <a:srgbClr val="303B48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726679" y="2578608"/>
            <a:ext cx="411481" cy="0"/>
          </a:xfrm>
          <a:prstGeom prst="line">
            <a:avLst/>
          </a:prstGeom>
          <a:ln w="25400">
            <a:solidFill>
              <a:srgbClr val="1A8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0" y="1828800"/>
            <a:ext cx="3154680" cy="1508760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1901952"/>
            <a:ext cx="64008" cy="1362456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30768" y="1975104"/>
            <a:ext cx="347472" cy="347472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0768" y="200253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1965960"/>
            <a:ext cx="237743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B4D"/>
                </a:solidFill>
                <a:latin typeface="Aptos"/>
              </a:rPr>
              <a:t>Obtain Final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2450592"/>
            <a:ext cx="2770632" cy="9202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303B48"/>
                </a:solidFill>
                <a:latin typeface="Aptos"/>
              </a:rPr>
              <a:t>If corrections are needed, </a:t>
            </a:r>
            <a:r>
              <a:rPr lang="en-US" sz="1100" b="0" dirty="0" smtClean="0">
                <a:solidFill>
                  <a:srgbClr val="303B48"/>
                </a:solidFill>
                <a:latin typeface="Aptos"/>
              </a:rPr>
              <a:t>like DOJ changed, </a:t>
            </a:r>
            <a:r>
              <a:rPr lang="en-US" sz="1100" dirty="0">
                <a:solidFill>
                  <a:srgbClr val="303B48"/>
                </a:solidFill>
                <a:latin typeface="Aptos"/>
              </a:rPr>
              <a:t>s</a:t>
            </a:r>
            <a:r>
              <a:rPr lang="en-US" sz="1100" b="0" dirty="0" smtClean="0">
                <a:solidFill>
                  <a:srgbClr val="303B48"/>
                </a:solidFill>
                <a:latin typeface="Aptos"/>
              </a:rPr>
              <a:t>alary revised etc. then </a:t>
            </a:r>
            <a:r>
              <a:rPr sz="1100" b="0" dirty="0" smtClean="0">
                <a:solidFill>
                  <a:srgbClr val="303B48"/>
                </a:solidFill>
                <a:latin typeface="Aptos"/>
              </a:rPr>
              <a:t>HR </a:t>
            </a:r>
            <a:r>
              <a:rPr lang="en-US" sz="1100" b="0" dirty="0" smtClean="0">
                <a:solidFill>
                  <a:srgbClr val="303B48"/>
                </a:solidFill>
                <a:latin typeface="Aptos"/>
              </a:rPr>
              <a:t>revised letter</a:t>
            </a:r>
            <a:r>
              <a:rPr sz="1100" b="0" dirty="0" smtClean="0">
                <a:solidFill>
                  <a:srgbClr val="303B48"/>
                </a:solidFill>
                <a:latin typeface="Aptos"/>
              </a:rPr>
              <a:t> </a:t>
            </a:r>
            <a:r>
              <a:rPr sz="1100" b="0" dirty="0">
                <a:solidFill>
                  <a:srgbClr val="303B48"/>
                </a:solidFill>
                <a:latin typeface="Aptos"/>
              </a:rPr>
              <a:t>based on </a:t>
            </a:r>
            <a:r>
              <a:rPr sz="1100" b="0" dirty="0" smtClean="0">
                <a:solidFill>
                  <a:srgbClr val="303B48"/>
                </a:solidFill>
                <a:latin typeface="Aptos"/>
              </a:rPr>
              <a:t>written</a:t>
            </a:r>
            <a:r>
              <a:rPr lang="en-US" sz="1100" b="0" dirty="0" smtClean="0">
                <a:solidFill>
                  <a:srgbClr val="303B48"/>
                </a:solidFill>
                <a:latin typeface="Aptos"/>
              </a:rPr>
              <a:t> of</a:t>
            </a:r>
            <a:r>
              <a:rPr sz="1100" b="0" dirty="0" smtClean="0">
                <a:solidFill>
                  <a:srgbClr val="303B48"/>
                </a:solidFill>
                <a:latin typeface="Aptos"/>
              </a:rPr>
              <a:t> </a:t>
            </a:r>
            <a:r>
              <a:rPr lang="en-US" sz="1100" dirty="0">
                <a:solidFill>
                  <a:srgbClr val="303B48"/>
                </a:solidFill>
                <a:latin typeface="Aptos"/>
              </a:rPr>
              <a:t>P</a:t>
            </a:r>
            <a:r>
              <a:rPr sz="1100" b="0" dirty="0" smtClean="0">
                <a:solidFill>
                  <a:srgbClr val="303B48"/>
                </a:solidFill>
                <a:latin typeface="Aptos"/>
              </a:rPr>
              <a:t>M </a:t>
            </a:r>
            <a:r>
              <a:rPr sz="1100" b="0" dirty="0">
                <a:solidFill>
                  <a:srgbClr val="303B48"/>
                </a:solidFill>
                <a:latin typeface="Aptos"/>
              </a:rPr>
              <a:t>approval and resends </a:t>
            </a:r>
            <a:r>
              <a:rPr lang="en-US" sz="1100" b="0" dirty="0" smtClean="0">
                <a:solidFill>
                  <a:srgbClr val="303B48"/>
                </a:solidFill>
                <a:latin typeface="Aptos"/>
              </a:rPr>
              <a:t>revised appointment letter </a:t>
            </a:r>
            <a:r>
              <a:rPr sz="1100" b="0" dirty="0" smtClean="0">
                <a:solidFill>
                  <a:srgbClr val="303B48"/>
                </a:solidFill>
                <a:latin typeface="Aptos"/>
              </a:rPr>
              <a:t>for </a:t>
            </a:r>
            <a:r>
              <a:rPr sz="1100" b="0" dirty="0">
                <a:solidFill>
                  <a:srgbClr val="303B48"/>
                </a:solidFill>
                <a:latin typeface="Aptos"/>
              </a:rPr>
              <a:t>approval.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886200"/>
            <a:ext cx="4892040" cy="1143000"/>
          </a:xfrm>
          <a:prstGeom prst="roundRect">
            <a:avLst/>
          </a:prstGeom>
          <a:solidFill>
            <a:srgbClr val="FCF3E5"/>
          </a:solidFill>
          <a:ln>
            <a:solidFill>
              <a:srgbClr val="EECE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0432" y="4069080"/>
            <a:ext cx="438912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dirty="0">
                <a:solidFill>
                  <a:srgbClr val="303B48"/>
                </a:solidFill>
                <a:latin typeface="Aptos"/>
              </a:rPr>
              <a:t>IF CHANGES ARE REQUIRED
Correct the letter only after written </a:t>
            </a:r>
            <a:r>
              <a:rPr lang="en-US" sz="1200" b="1" dirty="0" smtClean="0">
                <a:solidFill>
                  <a:srgbClr val="303B48"/>
                </a:solidFill>
                <a:latin typeface="Aptos"/>
              </a:rPr>
              <a:t>P</a:t>
            </a:r>
            <a:r>
              <a:rPr sz="1200" b="1" dirty="0" smtClean="0">
                <a:solidFill>
                  <a:srgbClr val="303B48"/>
                </a:solidFill>
                <a:latin typeface="Aptos"/>
              </a:rPr>
              <a:t>M </a:t>
            </a:r>
            <a:r>
              <a:rPr sz="1200" b="1" dirty="0">
                <a:solidFill>
                  <a:srgbClr val="303B48"/>
                </a:solidFill>
                <a:latin typeface="Aptos"/>
              </a:rPr>
              <a:t>approval, then obtain </a:t>
            </a:r>
            <a:r>
              <a:rPr lang="en-US" sz="1200" b="1" dirty="0" smtClean="0">
                <a:solidFill>
                  <a:srgbClr val="303B48"/>
                </a:solidFill>
                <a:latin typeface="Aptos"/>
              </a:rPr>
              <a:t>P</a:t>
            </a:r>
            <a:r>
              <a:rPr sz="1200" b="1" dirty="0" smtClean="0">
                <a:solidFill>
                  <a:srgbClr val="303B48"/>
                </a:solidFill>
                <a:latin typeface="Aptos"/>
              </a:rPr>
              <a:t>M </a:t>
            </a:r>
            <a:r>
              <a:rPr sz="1200" b="1" dirty="0">
                <a:solidFill>
                  <a:srgbClr val="303B48"/>
                </a:solidFill>
                <a:latin typeface="Aptos"/>
              </a:rPr>
              <a:t>approval again.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886200"/>
            <a:ext cx="4892040" cy="1143000"/>
          </a:xfrm>
          <a:prstGeom prst="roundRect">
            <a:avLst/>
          </a:prstGeom>
          <a:solidFill>
            <a:srgbClr val="E0F4F1"/>
          </a:solidFill>
          <a:ln>
            <a:solidFill>
              <a:srgbClr val="B0D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4069080"/>
            <a:ext cx="4389120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3B48"/>
                </a:solidFill>
                <a:latin typeface="Aptos"/>
              </a:rPr>
              <a:t>AFTER APPROVAL
Email the approved appointment letter to the employee before the joining date.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97880" y="4453128"/>
            <a:ext cx="338328" cy="0"/>
          </a:xfrm>
          <a:prstGeom prst="line">
            <a:avLst/>
          </a:prstGeom>
          <a:ln w="25400">
            <a:solidFill>
              <a:srgbClr val="1A8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D6C7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4360" y="621792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600" b="1" dirty="0">
                <a:solidFill>
                  <a:srgbClr val="172B4D"/>
                </a:solidFill>
                <a:latin typeface="Aptos"/>
              </a:rPr>
              <a:t>5</a:t>
            </a:r>
            <a:r>
              <a:rPr sz="2600" b="1" dirty="0" smtClean="0">
                <a:solidFill>
                  <a:srgbClr val="172B4D"/>
                </a:solidFill>
                <a:latin typeface="Aptos"/>
              </a:rPr>
              <a:t>. </a:t>
            </a:r>
            <a:r>
              <a:rPr sz="2600" b="1" u="sng" dirty="0">
                <a:solidFill>
                  <a:srgbClr val="172B4D"/>
                </a:solidFill>
                <a:latin typeface="Aptos"/>
              </a:rPr>
              <a:t>Employee Documentation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" y="1170432"/>
            <a:ext cx="1078992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85750" indent="-285750" algn="l"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b="0" dirty="0">
                <a:solidFill>
                  <a:srgbClr val="00B050"/>
                </a:solidFill>
                <a:latin typeface="Aptos"/>
              </a:rPr>
              <a:t>After the appointment letter is sent, HR </a:t>
            </a:r>
            <a:r>
              <a:rPr lang="en-US" dirty="0">
                <a:solidFill>
                  <a:srgbClr val="00B050"/>
                </a:solidFill>
                <a:latin typeface="Aptos"/>
              </a:rPr>
              <a:t>m</a:t>
            </a:r>
            <a:r>
              <a:rPr lang="en-US" dirty="0" smtClean="0">
                <a:solidFill>
                  <a:srgbClr val="00B050"/>
                </a:solidFill>
                <a:latin typeface="Aptos"/>
              </a:rPr>
              <a:t>ove</a:t>
            </a:r>
            <a:r>
              <a:rPr b="0" dirty="0" smtClean="0">
                <a:solidFill>
                  <a:srgbClr val="00B050"/>
                </a:solidFill>
                <a:latin typeface="Aptos"/>
              </a:rPr>
              <a:t> </a:t>
            </a:r>
            <a:r>
              <a:rPr b="0" dirty="0">
                <a:solidFill>
                  <a:srgbClr val="00B050"/>
                </a:solidFill>
                <a:latin typeface="Aptos"/>
              </a:rPr>
              <a:t>the required documents in the system</a:t>
            </a:r>
            <a:r>
              <a:rPr sz="1200" b="0" dirty="0">
                <a:solidFill>
                  <a:srgbClr val="5D6C7C"/>
                </a:solidFill>
                <a:latin typeface="Aptos"/>
              </a:rPr>
              <a:t>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1874519"/>
            <a:ext cx="3429000" cy="1261872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31520" y="1947672"/>
            <a:ext cx="64008" cy="1115568"/>
          </a:xfrm>
          <a:prstGeom prst="rect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32688" y="2020824"/>
            <a:ext cx="347472" cy="347472"/>
          </a:xfrm>
          <a:prstGeom prst="ellipse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32688" y="2048255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71600" y="2011679"/>
            <a:ext cx="26517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B4D"/>
                </a:solidFill>
                <a:latin typeface="Aptos"/>
              </a:rPr>
              <a:t>Identity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2688" y="2496312"/>
            <a:ext cx="3044952" cy="4124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 err="1">
                <a:solidFill>
                  <a:srgbClr val="303B48"/>
                </a:solidFill>
                <a:latin typeface="Aptos"/>
              </a:rPr>
              <a:t>Aadhaar</a:t>
            </a:r>
            <a:r>
              <a:rPr sz="1100" b="0" dirty="0">
                <a:solidFill>
                  <a:srgbClr val="303B48"/>
                </a:solidFill>
                <a:latin typeface="Aptos"/>
              </a:rPr>
              <a:t> Card — both sides
PAN </a:t>
            </a:r>
            <a:r>
              <a:rPr sz="1100" b="0" dirty="0" smtClean="0">
                <a:solidFill>
                  <a:srgbClr val="303B48"/>
                </a:solidFill>
                <a:latin typeface="Aptos"/>
              </a:rPr>
              <a:t>Card</a:t>
            </a:r>
            <a:endParaRPr lang="en-US" sz="1100" b="0" dirty="0" smtClean="0">
              <a:solidFill>
                <a:srgbClr val="303B48"/>
              </a:solidFill>
              <a:latin typeface="Aptos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4572000" y="1874519"/>
            <a:ext cx="3429000" cy="1261872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572000" y="1947672"/>
            <a:ext cx="64008" cy="1115568"/>
          </a:xfrm>
          <a:prstGeom prst="rect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4773168" y="2020824"/>
            <a:ext cx="347472" cy="347472"/>
          </a:xfrm>
          <a:prstGeom prst="ellipse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773168" y="2048255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12079" y="2011679"/>
            <a:ext cx="26517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B4D"/>
                </a:solidFill>
                <a:latin typeface="Aptos"/>
              </a:rPr>
              <a:t>Education &amp; Profile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73168" y="2496312"/>
            <a:ext cx="3044952" cy="5816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100" b="0" dirty="0" smtClean="0">
                <a:solidFill>
                  <a:srgbClr val="303B48"/>
                </a:solidFill>
                <a:latin typeface="Aptos"/>
              </a:rPr>
              <a:t>PIF Kit</a:t>
            </a:r>
          </a:p>
          <a:p>
            <a:pPr algn="l">
              <a:spcAft>
                <a:spcPts val="0"/>
              </a:spcAft>
            </a:pPr>
            <a:r>
              <a:rPr sz="1100" b="0" dirty="0" smtClean="0">
                <a:solidFill>
                  <a:srgbClr val="303B48"/>
                </a:solidFill>
                <a:latin typeface="Aptos"/>
              </a:rPr>
              <a:t>Education </a:t>
            </a:r>
            <a:r>
              <a:rPr sz="1100" b="0" dirty="0">
                <a:solidFill>
                  <a:srgbClr val="303B48"/>
                </a:solidFill>
                <a:latin typeface="Aptos"/>
              </a:rPr>
              <a:t>Certificates
CV / </a:t>
            </a:r>
            <a:r>
              <a:rPr sz="1100" b="0" dirty="0" smtClean="0">
                <a:solidFill>
                  <a:srgbClr val="303B48"/>
                </a:solidFill>
                <a:latin typeface="Aptos"/>
              </a:rPr>
              <a:t>Resume</a:t>
            </a:r>
            <a:endParaRPr lang="en-US" sz="1100" dirty="0">
              <a:solidFill>
                <a:srgbClr val="303B48"/>
              </a:solidFill>
              <a:latin typeface="Aptos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8412480" y="1874519"/>
            <a:ext cx="3429000" cy="1261872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412480" y="1947672"/>
            <a:ext cx="64008" cy="1115568"/>
          </a:xfrm>
          <a:prstGeom prst="rect">
            <a:avLst/>
          </a:prstGeom>
          <a:solidFill>
            <a:srgbClr val="36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8613648" y="2020824"/>
            <a:ext cx="347472" cy="347472"/>
          </a:xfrm>
          <a:prstGeom prst="ellipse">
            <a:avLst/>
          </a:prstGeom>
          <a:solidFill>
            <a:srgbClr val="36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613648" y="2048255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0" y="2011679"/>
            <a:ext cx="265175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B4D"/>
                </a:solidFill>
                <a:latin typeface="Aptos"/>
              </a:rPr>
              <a:t>Banking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13648" y="2496312"/>
            <a:ext cx="3044952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303B48"/>
                </a:solidFill>
                <a:latin typeface="Aptos"/>
              </a:rPr>
              <a:t>Bank Account </a:t>
            </a:r>
            <a:r>
              <a:rPr sz="1100" b="0" dirty="0" smtClean="0">
                <a:solidFill>
                  <a:srgbClr val="303B48"/>
                </a:solidFill>
                <a:latin typeface="Aptos"/>
              </a:rPr>
              <a:t>Proof</a:t>
            </a:r>
            <a:r>
              <a:rPr lang="en-US" sz="1100" dirty="0" smtClean="0">
                <a:solidFill>
                  <a:srgbClr val="303B48"/>
                </a:solidFill>
                <a:latin typeface="Aptos"/>
              </a:rPr>
              <a:t> (for salary processing)</a:t>
            </a:r>
            <a:endParaRPr sz="1100" b="0" dirty="0">
              <a:solidFill>
                <a:srgbClr val="303B48"/>
              </a:solidFill>
              <a:latin typeface="Aptos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731520" y="3474720"/>
            <a:ext cx="3429000" cy="1261872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731520" y="3547872"/>
            <a:ext cx="64008" cy="1115568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932688" y="3621024"/>
            <a:ext cx="347472" cy="347472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32688" y="364845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71600" y="3611879"/>
            <a:ext cx="26517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B4D"/>
                </a:solidFill>
                <a:latin typeface="Aptos"/>
              </a:rPr>
              <a:t>Employment History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" y="4096511"/>
            <a:ext cx="3044952" cy="5669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03B48"/>
                </a:solidFill>
                <a:latin typeface="Aptos"/>
              </a:rPr>
              <a:t>Previous Employment Certificate(s)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572000" y="3474720"/>
            <a:ext cx="3429000" cy="1261872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572000" y="3547872"/>
            <a:ext cx="64008" cy="1115568"/>
          </a:xfrm>
          <a:prstGeom prst="rect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4773168" y="3621024"/>
            <a:ext cx="347472" cy="347472"/>
          </a:xfrm>
          <a:prstGeom prst="ellipse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773168" y="364845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12079" y="3611879"/>
            <a:ext cx="26517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B4D"/>
                </a:solidFill>
                <a:latin typeface="Aptos"/>
              </a:rPr>
              <a:t>Photo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773168" y="4096511"/>
            <a:ext cx="3044952" cy="5669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303B48"/>
                </a:solidFill>
                <a:latin typeface="Aptos"/>
              </a:rPr>
              <a:t>Passport-size Photograph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412480" y="3474720"/>
            <a:ext cx="3429000" cy="1261872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8412480" y="3547872"/>
            <a:ext cx="64008" cy="1115568"/>
          </a:xfrm>
          <a:prstGeom prst="rect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8613648" y="3621024"/>
            <a:ext cx="347472" cy="347472"/>
          </a:xfrm>
          <a:prstGeom prst="ellipse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613648" y="364845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52560" y="3611879"/>
            <a:ext cx="265175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B4D"/>
                </a:solidFill>
                <a:latin typeface="Aptos"/>
              </a:rPr>
              <a:t>Other Required Records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13648" y="4096511"/>
            <a:ext cx="3044952" cy="5669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303B48"/>
                </a:solidFill>
                <a:latin typeface="Aptos"/>
              </a:rPr>
              <a:t>Additional documents required for employee records or compliance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05840" y="5349240"/>
            <a:ext cx="10149840" cy="502920"/>
          </a:xfrm>
          <a:prstGeom prst="round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234440" y="5458968"/>
            <a:ext cx="969264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5D6C7C"/>
                </a:solidFill>
                <a:latin typeface="Aptos"/>
              </a:rPr>
              <a:t>All received documents are moved to the designated HRMS / company system for review and record keeping</a:t>
            </a:r>
            <a:r>
              <a:rPr sz="1100" b="1" dirty="0">
                <a:solidFill>
                  <a:srgbClr val="5D6C7C"/>
                </a:solidFill>
                <a:latin typeface="Aptos"/>
              </a:rPr>
              <a:t>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D6C7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600" b="1" dirty="0">
                <a:solidFill>
                  <a:srgbClr val="172B4D"/>
                </a:solidFill>
                <a:latin typeface="Aptos"/>
              </a:rPr>
              <a:t>6</a:t>
            </a:r>
            <a:r>
              <a:rPr sz="2600" b="1" dirty="0" smtClean="0">
                <a:solidFill>
                  <a:srgbClr val="172B4D"/>
                </a:solidFill>
                <a:latin typeface="Aptos"/>
              </a:rPr>
              <a:t>. </a:t>
            </a:r>
            <a:r>
              <a:rPr sz="2600" b="1" u="sng" dirty="0">
                <a:solidFill>
                  <a:srgbClr val="172B4D"/>
                </a:solidFill>
                <a:latin typeface="Aptos"/>
              </a:rPr>
              <a:t>Document Review </a:t>
            </a:r>
            <a:r>
              <a:rPr sz="2600" b="1" u="sng" dirty="0" smtClean="0">
                <a:solidFill>
                  <a:srgbClr val="172B4D"/>
                </a:solidFill>
                <a:latin typeface="Aptos"/>
              </a:rPr>
              <a:t>&amp; </a:t>
            </a:r>
            <a:r>
              <a:rPr sz="2600" b="1" u="sng" dirty="0">
                <a:solidFill>
                  <a:srgbClr val="172B4D"/>
                </a:solidFill>
                <a:latin typeface="Aptos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329184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993392"/>
            <a:ext cx="64008" cy="1408176"/>
          </a:xfrm>
          <a:prstGeom prst="rect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78408" y="2066544"/>
            <a:ext cx="347472" cy="347472"/>
          </a:xfrm>
          <a:prstGeom prst="ellipse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09397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57400"/>
            <a:ext cx="251460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dirty="0">
                <a:solidFill>
                  <a:srgbClr val="172B4D"/>
                </a:solidFill>
                <a:latin typeface="Aptos"/>
              </a:rPr>
              <a:t>Check Document </a:t>
            </a:r>
            <a:r>
              <a:rPr lang="en-US" sz="1500" b="1" dirty="0" smtClean="0">
                <a:solidFill>
                  <a:srgbClr val="172B4D"/>
                </a:solidFill>
                <a:latin typeface="Aptos"/>
              </a:rPr>
              <a:t>Clarity</a:t>
            </a:r>
            <a:endParaRPr sz="1500" b="1" dirty="0">
              <a:solidFill>
                <a:srgbClr val="172B4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8408" y="2542032"/>
            <a:ext cx="2907792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03B48"/>
                </a:solidFill>
                <a:latin typeface="Aptos"/>
              </a:rPr>
              <a:t>Confirm each document is clear, readable, printable and complete.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329184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993392"/>
            <a:ext cx="64008" cy="1408176"/>
          </a:xfrm>
          <a:prstGeom prst="rect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36007" y="2066544"/>
            <a:ext cx="347472" cy="347472"/>
          </a:xfrm>
          <a:prstGeom prst="ellipse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209397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19" y="2057400"/>
            <a:ext cx="2514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B4D"/>
                </a:solidFill>
                <a:latin typeface="Aptos"/>
              </a:rPr>
              <a:t>Match Employee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7" y="2542032"/>
            <a:ext cx="2907792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03B48"/>
                </a:solidFill>
                <a:latin typeface="Aptos"/>
              </a:rPr>
              <a:t>Compare document details with the employee's submitted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920240"/>
            <a:ext cx="3291840" cy="1554480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1993392"/>
            <a:ext cx="64008" cy="1408176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93608" y="2066544"/>
            <a:ext cx="347472" cy="347472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93608" y="209397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057400"/>
            <a:ext cx="251459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B4D"/>
                </a:solidFill>
                <a:latin typeface="Aptos"/>
              </a:rPr>
              <a:t>Identify Any Issue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542032"/>
            <a:ext cx="2907792" cy="8595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03B48"/>
                </a:solidFill>
                <a:latin typeface="Aptos"/>
              </a:rPr>
              <a:t>Flag blurred, unreadable, incomplete or inconsistent documents.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0" y="2697480"/>
            <a:ext cx="256032" cy="0"/>
          </a:xfrm>
          <a:prstGeom prst="line">
            <a:avLst/>
          </a:prstGeom>
          <a:ln w="25400">
            <a:solidFill>
              <a:srgbClr val="1A8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772400" y="2697480"/>
            <a:ext cx="256031" cy="0"/>
          </a:xfrm>
          <a:prstGeom prst="line">
            <a:avLst/>
          </a:prstGeom>
          <a:ln w="25400">
            <a:solidFill>
              <a:srgbClr val="1A8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234440" y="4251960"/>
            <a:ext cx="9738360" cy="914400"/>
          </a:xfrm>
          <a:prstGeom prst="roundRect">
            <a:avLst/>
          </a:prstGeom>
          <a:solidFill>
            <a:srgbClr val="E1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08760" y="448056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75FA0"/>
                </a:solidFill>
                <a:latin typeface="Aptos"/>
              </a:rPr>
              <a:t>IF AN ISSUE IS FOUND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2073" y="4480560"/>
            <a:ext cx="667512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303B48"/>
                </a:solidFill>
                <a:latin typeface="Aptos"/>
              </a:rPr>
              <a:t>Contact the employee </a:t>
            </a:r>
            <a:r>
              <a:rPr lang="en-US" sz="1400" dirty="0" smtClean="0">
                <a:solidFill>
                  <a:srgbClr val="303B48"/>
                </a:solidFill>
                <a:latin typeface="Aptos"/>
              </a:rPr>
              <a:t>to provide</a:t>
            </a:r>
            <a:r>
              <a:rPr sz="1400" b="0" dirty="0" smtClean="0">
                <a:solidFill>
                  <a:srgbClr val="303B48"/>
                </a:solidFill>
                <a:latin typeface="Aptos"/>
              </a:rPr>
              <a:t> </a:t>
            </a:r>
            <a:r>
              <a:rPr sz="1400" b="0" dirty="0">
                <a:solidFill>
                  <a:srgbClr val="303B48"/>
                </a:solidFill>
                <a:latin typeface="Aptos"/>
              </a:rPr>
              <a:t>a clear, complete or corrected document.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D6C7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600" b="1" dirty="0">
                <a:solidFill>
                  <a:srgbClr val="172B4D"/>
                </a:solidFill>
                <a:latin typeface="Aptos"/>
              </a:rPr>
              <a:t>7</a:t>
            </a:r>
            <a:r>
              <a:rPr sz="2600" b="1" dirty="0" smtClean="0">
                <a:solidFill>
                  <a:srgbClr val="172B4D"/>
                </a:solidFill>
                <a:latin typeface="Aptos"/>
              </a:rPr>
              <a:t>. </a:t>
            </a:r>
            <a:r>
              <a:rPr sz="2600" b="1" u="sng" dirty="0">
                <a:solidFill>
                  <a:srgbClr val="172B4D"/>
                </a:solidFill>
                <a:latin typeface="Aptos"/>
              </a:rPr>
              <a:t>Follow-up &amp; Escalation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246120" cy="1600200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039112"/>
            <a:ext cx="64008" cy="1453896"/>
          </a:xfrm>
          <a:prstGeom prst="rect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8" y="2112264"/>
            <a:ext cx="347472" cy="347472"/>
          </a:xfrm>
          <a:prstGeom prst="ellipse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13969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03120"/>
            <a:ext cx="2468879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B4D"/>
                </a:solidFill>
                <a:latin typeface="Aptos"/>
              </a:rPr>
              <a:t>Follow up with Employee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87752"/>
            <a:ext cx="2862072" cy="9052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03B48"/>
                </a:solidFill>
                <a:latin typeface="Aptos"/>
              </a:rPr>
              <a:t>Request the missing, corrected or readable document and explain what is needed.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60520" y="2761488"/>
            <a:ext cx="365760" cy="0"/>
          </a:xfrm>
          <a:prstGeom prst="line">
            <a:avLst/>
          </a:prstGeom>
          <a:ln w="25400">
            <a:solidFill>
              <a:srgbClr val="1A8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1965960"/>
            <a:ext cx="3246120" cy="1600200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2039112"/>
            <a:ext cx="64008" cy="1453896"/>
          </a:xfrm>
          <a:prstGeom prst="rect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773168" y="2112264"/>
            <a:ext cx="347472" cy="347472"/>
          </a:xfrm>
          <a:prstGeom prst="ellipse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73168" y="213969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2103120"/>
            <a:ext cx="2468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B4D"/>
                </a:solidFill>
                <a:latin typeface="Aptos"/>
              </a:rPr>
              <a:t>Check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587752"/>
            <a:ext cx="2862072" cy="9052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03B48"/>
                </a:solidFill>
                <a:latin typeface="Aptos"/>
              </a:rPr>
              <a:t>If the employee responds, review the submitted document and continue.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09560" y="2761488"/>
            <a:ext cx="365760" cy="0"/>
          </a:xfrm>
          <a:prstGeom prst="line">
            <a:avLst/>
          </a:prstGeom>
          <a:ln w="25400">
            <a:solidFill>
              <a:srgbClr val="E691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321040" y="1965960"/>
            <a:ext cx="3063240" cy="1600200"/>
          </a:xfrm>
          <a:prstGeom prst="roundRect">
            <a:avLst/>
          </a:prstGeom>
          <a:solidFill>
            <a:srgbClr val="F1F6FB"/>
          </a:solidFill>
          <a:ln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21040" y="2039112"/>
            <a:ext cx="64008" cy="1453896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22208" y="2112264"/>
            <a:ext cx="347472" cy="347472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22208" y="2139696"/>
            <a:ext cx="34747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103120"/>
            <a:ext cx="2285999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dirty="0" smtClean="0">
                <a:solidFill>
                  <a:srgbClr val="172B4D"/>
                </a:solidFill>
                <a:latin typeface="Aptos"/>
              </a:rPr>
              <a:t>Escalate </a:t>
            </a:r>
            <a:r>
              <a:rPr sz="1500" b="1" dirty="0">
                <a:solidFill>
                  <a:srgbClr val="172B4D"/>
                </a:solidFill>
                <a:latin typeface="Aptos"/>
              </a:rPr>
              <a:t>to </a:t>
            </a:r>
            <a:r>
              <a:rPr lang="en-US" sz="1500" b="1" dirty="0" smtClean="0">
                <a:solidFill>
                  <a:srgbClr val="172B4D"/>
                </a:solidFill>
                <a:latin typeface="Aptos"/>
              </a:rPr>
              <a:t>P</a:t>
            </a:r>
            <a:r>
              <a:rPr sz="1500" b="1" dirty="0" smtClean="0">
                <a:solidFill>
                  <a:srgbClr val="172B4D"/>
                </a:solidFill>
                <a:latin typeface="Aptos"/>
              </a:rPr>
              <a:t>M</a:t>
            </a:r>
            <a:endParaRPr sz="1500" b="1" dirty="0">
              <a:solidFill>
                <a:srgbClr val="172B4D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22208" y="2587752"/>
            <a:ext cx="2679192" cy="5816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303B48"/>
                </a:solidFill>
                <a:latin typeface="Aptos"/>
              </a:rPr>
              <a:t>If there is no response or the document is not provided, follow up with the </a:t>
            </a:r>
            <a:r>
              <a:rPr lang="en-US" sz="1100" b="0" dirty="0" smtClean="0">
                <a:solidFill>
                  <a:srgbClr val="303B48"/>
                </a:solidFill>
                <a:latin typeface="Aptos"/>
              </a:rPr>
              <a:t>Project </a:t>
            </a:r>
            <a:r>
              <a:rPr sz="1100" b="0" dirty="0" smtClean="0">
                <a:solidFill>
                  <a:srgbClr val="303B48"/>
                </a:solidFill>
                <a:latin typeface="Aptos"/>
              </a:rPr>
              <a:t>Manager</a:t>
            </a:r>
            <a:r>
              <a:rPr sz="1100" b="0" dirty="0">
                <a:solidFill>
                  <a:srgbClr val="303B48"/>
                </a:solidFill>
                <a:latin typeface="Aptos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4343400"/>
            <a:ext cx="9601200" cy="868680"/>
          </a:xfrm>
          <a:prstGeom prst="roundRect">
            <a:avLst/>
          </a:prstGeom>
          <a:solidFill>
            <a:srgbClr val="E0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54480" y="4544568"/>
            <a:ext cx="905256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dirty="0">
                <a:solidFill>
                  <a:srgbClr val="303B48"/>
                </a:solidFill>
                <a:latin typeface="Aptos"/>
              </a:rPr>
              <a:t>Goal: collect complete documents on time so employee records and statutory compliance can be completed on </a:t>
            </a:r>
            <a:r>
              <a:rPr lang="en-US" sz="1300" b="1" dirty="0" smtClean="0">
                <a:solidFill>
                  <a:srgbClr val="303B48"/>
                </a:solidFill>
                <a:latin typeface="Aptos"/>
              </a:rPr>
              <a:t>Time</a:t>
            </a:r>
            <a:r>
              <a:rPr sz="1300" b="1" dirty="0" smtClean="0">
                <a:solidFill>
                  <a:srgbClr val="303B48"/>
                </a:solidFill>
                <a:latin typeface="Aptos"/>
              </a:rPr>
              <a:t>.</a:t>
            </a:r>
            <a:endParaRPr sz="1300" b="1" dirty="0">
              <a:solidFill>
                <a:srgbClr val="303B48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D6C7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600" b="1" dirty="0" smtClean="0">
                <a:solidFill>
                  <a:srgbClr val="172B4D"/>
                </a:solidFill>
                <a:latin typeface="Aptos"/>
              </a:rPr>
              <a:t>8. </a:t>
            </a:r>
            <a:r>
              <a:rPr sz="2600" b="1" u="sng" dirty="0" smtClean="0">
                <a:solidFill>
                  <a:srgbClr val="172B4D"/>
                </a:solidFill>
                <a:latin typeface="Aptos"/>
              </a:rPr>
              <a:t>Data </a:t>
            </a:r>
            <a:r>
              <a:rPr sz="2600" b="1" u="sng" dirty="0">
                <a:solidFill>
                  <a:srgbClr val="172B4D"/>
                </a:solidFill>
                <a:latin typeface="Aptos"/>
              </a:rPr>
              <a:t>Correction &amp; Final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85750" indent="-285750" algn="l"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b="0" dirty="0">
                <a:solidFill>
                  <a:srgbClr val="0070C0"/>
                </a:solidFill>
                <a:latin typeface="Aptos"/>
              </a:rPr>
              <a:t>Employee data is updated according to supporting documents and rechecked before verification</a:t>
            </a:r>
            <a:r>
              <a:rPr sz="1200" b="0" dirty="0">
                <a:solidFill>
                  <a:srgbClr val="5D6C7C"/>
                </a:solidFill>
                <a:latin typeface="Aptos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892807"/>
            <a:ext cx="502920" cy="502920"/>
          </a:xfrm>
          <a:prstGeom prst="ellipse">
            <a:avLst/>
          </a:prstGeom>
          <a:solidFill>
            <a:srgbClr val="27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56816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837943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B4D"/>
                </a:solidFill>
                <a:latin typeface="Aptos"/>
              </a:rPr>
              <a:t>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19656"/>
            <a:ext cx="70408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303B48"/>
                </a:solidFill>
                <a:latin typeface="Aptos"/>
              </a:rPr>
              <a:t>Match </a:t>
            </a:r>
            <a:r>
              <a:rPr lang="en-US" sz="1400" dirty="0" smtClean="0">
                <a:solidFill>
                  <a:srgbClr val="303B48"/>
                </a:solidFill>
                <a:latin typeface="Aptos"/>
              </a:rPr>
              <a:t>details</a:t>
            </a:r>
            <a:r>
              <a:rPr sz="1400" b="0" dirty="0" smtClean="0">
                <a:solidFill>
                  <a:srgbClr val="303B48"/>
                </a:solidFill>
                <a:latin typeface="Aptos"/>
              </a:rPr>
              <a:t> </a:t>
            </a:r>
            <a:r>
              <a:rPr sz="1400" b="0" dirty="0">
                <a:solidFill>
                  <a:srgbClr val="303B48"/>
                </a:solidFill>
                <a:latin typeface="Aptos"/>
              </a:rPr>
              <a:t>/ employee data against the supporting documents.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61288" y="2441448"/>
            <a:ext cx="0" cy="274320"/>
          </a:xfrm>
          <a:prstGeom prst="line">
            <a:avLst/>
          </a:prstGeom>
          <a:ln w="25400">
            <a:solidFill>
              <a:srgbClr val="CF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14400" y="2916936"/>
            <a:ext cx="502920" cy="502920"/>
          </a:xfrm>
          <a:prstGeom prst="ellipse">
            <a:avLst/>
          </a:prstGeom>
          <a:solidFill>
            <a:srgbClr val="1A8F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62072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B4D"/>
                </a:solidFill>
                <a:latin typeface="Aptos"/>
              </a:rPr>
              <a:t>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43784"/>
            <a:ext cx="70408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303B48"/>
                </a:solidFill>
                <a:latin typeface="Aptos"/>
              </a:rPr>
              <a:t>If a mismatch is found, update employee details to match valid documents.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61288" y="3465576"/>
            <a:ext cx="0" cy="274320"/>
          </a:xfrm>
          <a:prstGeom prst="line">
            <a:avLst/>
          </a:prstGeom>
          <a:ln w="25400">
            <a:solidFill>
              <a:srgbClr val="CF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14400" y="3941064"/>
            <a:ext cx="502920" cy="502920"/>
          </a:xfrm>
          <a:prstGeom prst="ellipse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005072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88620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B4D"/>
                </a:solidFill>
                <a:latin typeface="Aptos"/>
              </a:rPr>
              <a:t>Recheck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867912"/>
            <a:ext cx="70408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303B48"/>
                </a:solidFill>
                <a:latin typeface="Aptos"/>
              </a:rPr>
              <a:t>Review updated information again to identify any remaining errors.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61288" y="4489704"/>
            <a:ext cx="0" cy="274320"/>
          </a:xfrm>
          <a:prstGeom prst="line">
            <a:avLst/>
          </a:prstGeom>
          <a:ln w="25400">
            <a:solidFill>
              <a:srgbClr val="CFDA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14400" y="4965192"/>
            <a:ext cx="502920" cy="502920"/>
          </a:xfrm>
          <a:prstGeom prst="ellipse">
            <a:avLst/>
          </a:prstGeom>
          <a:solidFill>
            <a:srgbClr val="36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910328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72B4D"/>
                </a:solidFill>
                <a:latin typeface="Aptos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892040"/>
            <a:ext cx="70408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03B48"/>
                </a:solidFill>
                <a:latin typeface="Aptos"/>
              </a:rPr>
              <a:t>If details are correct after rechecking, verify the record in the system.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5806440"/>
            <a:ext cx="8412480" cy="438912"/>
          </a:xfrm>
          <a:prstGeom prst="roundRect">
            <a:avLst/>
          </a:prstGeom>
          <a:solidFill>
            <a:srgbClr val="E0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57400" y="5879592"/>
            <a:ext cx="7955279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6875D"/>
                </a:solidFill>
                <a:latin typeface="Aptos"/>
              </a:rPr>
              <a:t>FINAL OUTCOME: Accurate employee data • Verified documents • Compliance-ready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D6C7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789</Words>
  <Application>Microsoft Office PowerPoint</Application>
  <PresentationFormat>Widescreen</PresentationFormat>
  <Paragraphs>153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user1</cp:lastModifiedBy>
  <cp:revision>12</cp:revision>
  <dcterms:created xsi:type="dcterms:W3CDTF">2013-01-27T09:14:16Z</dcterms:created>
  <dcterms:modified xsi:type="dcterms:W3CDTF">2026-10-24T06:27:20Z</dcterms:modified>
  <cp:category/>
</cp:coreProperties>
</file>